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85" r:id="rId36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34"/>
    <p:sldId id="284" r:id="rId35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This is a proposal, not a sales pitch. Name yourself and the five things you'll cover, then move fast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pain. Six revenue streams, five nearly invisible online. This is a discoverability problem, not a branding one. Let the three stats land before you say a word about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not a weekend freelancer. Nine years at Kaiser, now running a digital program for one of the largest health systems in the country. Tested at a scale most freelancers never see, on a project you genuinely care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did the homework before the meeting. Walk through two or three of these by name. The copy-of-wine-club-1 URL and the 2024 footer prove you actually looked.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reveal. Left is roughly what they have now. Right is a real design I built for this proposal. Point out: clear headline, reservation and venue buttons above the fold, the Wine Club finally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diners are deciding on their phone. The current mobile site is the worst version of the experience: cramped nav, a menu that is photos of paper, and a reservation button that is hard to even tap. The new site is built mobile-first, so the phone becomes the strongest channel instead of the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map before the walkthrough. Seven pages, each with one job and one search to win. The next seven slides show each page, built and clickable.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homepage answers what is Bacchus in five seconds — jazz, wine, New American — with Reserve and the wine quiz above the fold. Everything else is one tap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events page is a live calendar — artist, time, and price on every show, with a reserve link on each. This is the page that ranks for live jazz Pasadena.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menu becomes real text instead of photos of paper — readable on a phone, indexable by Google, and updated every time the kitchen changes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 interactive page and the headline of the redesign. Five questions match each visitor to a glass and a Wine Club tier, turning a passive browse into a reservation and a signup.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Catering gets a real page for the first time — three packages and an inquiry form that captures the lead. This is revenue that produces zero digital leads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venue page turns the room itself into a bookable product — capacity, layouts, and a check-a-date form open a brand-new lead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Wine Club finally gets its own page and signup flow, with all six perks laid out. It is a discovery and retention engine no competitor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Wine Club already exists with real perks and is almost invisible online. No competitor has one. Give it a homepage section, a signup flow, and SEO, and it becomes a discovery and retention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these streams operate in silos. A diner has no idea there's a Wine Club; a jazz guest has no idea they can book the space. The new site connects all six so one visitor can convert across several.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pricing is not the problem. Show that Bacchus sits right in the market for both events and the Wine Club. Neither needs a price cut. They need to be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 bigger venues own the neighborhood, intimate, all-in-one angle online. And Bacchus is the only one with a Wine Club. That is the open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guesswork. A Chicago Italian restaurant with the same starting conditions optimized its profile and on-page SEO and saw a 312% jump in direction requests. The playbook exists; it just needs to be executed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found with SEMRush, grouped by the revenue they bring in. The strategy is not just Pasadena. We target the wider Eastside of LA: Glendale, Burbank, La Canada, Monrovia, and the San Gabriel Valley, where catering and venue searches are less contested. Results take three to six months as Google indexes the new site and content builds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freelancers don't raise these. You are, up front, so there are no surprises: reviews, photography, Tock, the menu, ADA, and a simple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 sites are built on clarity. Before design starts, you need answers to these. Ask them in the room, or leave them as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Realistic numbers based on the actual 70-seat capacity. Today there are zero digital leads for catering or venue. These are goals, not promises, but they show the size of the prize.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realistic six-month roadmap. Results build over time, not overnight. Foundation, then visibility, then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pricing, flexible starting points. Full Launch is the recommended tier. The Squarespace subscription is paid directly by the client, not through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growth menu. The build is the foundation; these are the levers. Each one is either a new revenue stream for Bacchus or a recurring line for me. One-time builds on the left, monthly add-ons on the right. Suggested ranges, all negotiable, all on top of the core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it warm and direct. We agree on scope, you get a contract and invoice, Phase 1 is live within 45 days, full site and SEO within 60. Then your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Pages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hyperlink" Target="https://e3a46127-c0ba-42e6-8f0c-c023b19a3a9d.claudeusercontent.com/cdn-cgi/l/email-protec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Look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Pricing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Premium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Fy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A141C">
                  <a:alpha val="100000"/>
                </a:srgbClr>
              </a:gs>
              <a:gs pos="55000">
                <a:srgbClr val="1A0C0D">
                  <a:alpha val="100000"/>
                </a:srgbClr>
              </a:gs>
              <a:gs pos="100000">
                <a:srgbClr val="0F0A07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3906500" y="-1143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CF8F55">
                  <a:alpha val="22000"/>
                </a:srgbClr>
              </a:gs>
              <a:gs pos="68000">
                <a:srgbClr val="CF8F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4287500" y="5905500"/>
            <a:ext cx="2857500" cy="2857500"/>
          </a:xfrm>
          <a:prstGeom prst="ellipse">
            <a:avLst/>
          </a:prstGeom>
          <a:ln w="9525">
            <a:solidFill>
              <a:srgbClr val="CF8F5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1047750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STRATEGY PROPOSAL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091458"/>
            <a:ext cx="12753975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spc="-96" kern="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Eric Davis can do for Bacchus' Kitchen.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1238250" y="5900142"/>
            <a:ext cx="1493788" cy="571500"/>
          </a:xfrm>
          <a:prstGeom prst="roundRect">
            <a:avLst>
              <a:gd name="adj" fmla="val 50000"/>
            </a:avLst>
          </a:prstGeom>
          <a:ln w="9525">
            <a:solidFill>
              <a:srgbClr val="E4D3C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5425" y="6014442"/>
            <a:ext cx="10556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D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65388" y="5900142"/>
            <a:ext cx="934194" cy="571500"/>
          </a:xfrm>
          <a:prstGeom prst="roundRect">
            <a:avLst>
              <a:gd name="adj" fmla="val 50000"/>
            </a:avLst>
          </a:prstGeom>
          <a:ln w="9525">
            <a:solidFill>
              <a:srgbClr val="E4D3C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2563" y="6014442"/>
            <a:ext cx="4960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D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2932" y="5900142"/>
            <a:ext cx="1493788" cy="571500"/>
          </a:xfrm>
          <a:prstGeom prst="roundRect">
            <a:avLst>
              <a:gd name="adj" fmla="val 50000"/>
            </a:avLst>
          </a:prstGeom>
          <a:ln w="9525">
            <a:solidFill>
              <a:srgbClr val="E4D3C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0107" y="6014442"/>
            <a:ext cx="10556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D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60070" y="5900142"/>
            <a:ext cx="2752874" cy="571500"/>
          </a:xfrm>
          <a:prstGeom prst="roundRect">
            <a:avLst>
              <a:gd name="adj" fmla="val 50000"/>
            </a:avLst>
          </a:prstGeom>
          <a:ln w="9525">
            <a:solidFill>
              <a:srgbClr val="E4D3C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17245" y="6014442"/>
            <a:ext cx="2321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D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Catering &amp; Venue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46294" y="5900142"/>
            <a:ext cx="2752874" cy="571500"/>
          </a:xfrm>
          <a:prstGeom prst="roundRect">
            <a:avLst>
              <a:gd name="adj" fmla="val 50000"/>
            </a:avLst>
          </a:prstGeom>
          <a:ln w="9525">
            <a:solidFill>
              <a:srgbClr val="E4D3C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3469" y="6014442"/>
            <a:ext cx="2321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D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 Growth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50" y="8172450"/>
            <a:ext cx="15811500" cy="9525"/>
          </a:xfrm>
          <a:prstGeom prst="rect">
            <a:avLst/>
          </a:prstGeom>
          <a:solidFill>
            <a:srgbClr val="E4D3CF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8486775"/>
            <a:ext cx="26707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Eric Davis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38250" y="8963025"/>
            <a:ext cx="26707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Digital Strategy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969180" y="8963025"/>
            <a:ext cx="44886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linkedin.com/in/eric-davis-4b1034b8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439763"/>
            <a:ext cx="173926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2039838"/>
            <a:ext cx="1471612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day this does not change, money is walking out the door.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38250" y="4249638"/>
            <a:ext cx="1275397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 has live jazz, a full wine bar, a $100 per month Wine Club, catering, venue rental, and gift cards. That is six revenue streams, and right now five of them are nearly invisible online. This is not a branding problem. It is a discoverability problem.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38250" y="6245126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6511826"/>
            <a:ext cx="55879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238250" y="7502426"/>
            <a:ext cx="52323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or venue leads coming from the website today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03950" y="6245126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9" name="Text 7"/>
          <p:cNvSpPr/>
          <p:nvPr/>
        </p:nvSpPr>
        <p:spPr>
          <a:xfrm>
            <a:off x="6603950" y="6511826"/>
            <a:ext cx="55879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sec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6603950" y="7502426"/>
            <a:ext cx="52323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visitor decides if a site is worth staying 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69651" y="6245126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2" name="Text 10"/>
          <p:cNvSpPr/>
          <p:nvPr/>
        </p:nvSpPr>
        <p:spPr>
          <a:xfrm>
            <a:off x="11969651" y="6511826"/>
            <a:ext cx="55879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6900" dirty="0"/>
          </a:p>
        </p:txBody>
      </p:sp>
      <p:sp>
        <p:nvSpPr>
          <p:cNvPr id="13" name="Text 11"/>
          <p:cNvSpPr/>
          <p:nvPr/>
        </p:nvSpPr>
        <p:spPr>
          <a:xfrm>
            <a:off x="11969651" y="7502426"/>
            <a:ext cx="523234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diners research online before choosing a restaurant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8250" y="8599587"/>
            <a:ext cx="1739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Local SEO for Restaurants research, 2026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6513"/>
            <a:ext cx="69911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 AM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3138488"/>
            <a:ext cx="654622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your typical freelancer.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238250" y="5024438"/>
            <a:ext cx="19050" cy="333375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5024438"/>
            <a:ext cx="6743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at Kaiser Permanente in the call center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238250" y="5529263"/>
            <a:ext cx="19050" cy="333375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5529263"/>
            <a:ext cx="6743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through multiple roles over nine years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238250" y="6034088"/>
            <a:ext cx="19050" cy="666750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6034088"/>
            <a:ext cx="629857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Program Lead over KP's entire digital web presence portfolio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38250" y="6872288"/>
            <a:ext cx="19050" cy="333375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872288"/>
            <a:ext cx="6743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Squarespace and CMS specialist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38250" y="7377113"/>
            <a:ext cx="19050" cy="333375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" y="7377113"/>
            <a:ext cx="67434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M.S. Business Analytics candidate, CSUN Dean's Scholar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451056" y="2519363"/>
            <a:ext cx="885665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D8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manage digital web presence at scale for one of the largest health systems in the country, coordinating vendors, stakeholders, legal, and IT across thousands of digital properties.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451056" y="4114800"/>
            <a:ext cx="885665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Bacchus, that means you get someone who has been tested at a level most freelancers have not, working on a project he genuinely cares about.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451056" y="5881688"/>
            <a:ext cx="2713732" cy="1885950"/>
          </a:xfrm>
          <a:prstGeom prst="roundRect">
            <a:avLst>
              <a:gd name="adj" fmla="val 2020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8231" y="6176963"/>
            <a:ext cx="24193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9+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708231" y="6958013"/>
            <a:ext cx="227558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at Kaiser Permanente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393388" y="5881688"/>
            <a:ext cx="2713881" cy="1885950"/>
          </a:xfrm>
          <a:prstGeom prst="roundRect">
            <a:avLst>
              <a:gd name="adj" fmla="val 2020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50563" y="6176963"/>
            <a:ext cx="241948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100s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11650563" y="6958013"/>
            <a:ext cx="22757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properties managed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4335869" y="5881688"/>
            <a:ext cx="2713732" cy="1885950"/>
          </a:xfrm>
          <a:prstGeom prst="roundRect">
            <a:avLst>
              <a:gd name="adj" fmla="val 2020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93044" y="6176963"/>
            <a:ext cx="24193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14593044" y="6958013"/>
            <a:ext cx="227558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on things that do not work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125861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SITE REVIEW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649736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reviewed the current site. Here is what is broken.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047750" y="3526036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 | Reviewed June 2026 | Built on Wix | Moving to Squarespace is part of this engagement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047750" y="4211836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6072188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211836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211836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9" name="Shape 7"/>
          <p:cNvSpPr/>
          <p:nvPr/>
        </p:nvSpPr>
        <p:spPr>
          <a:xfrm>
            <a:off x="6296025" y="4211836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23975" y="4488061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 say "midweek hours vary"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23975" y="4935736"/>
            <a:ext cx="4866132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who wants to come Wednesday has no idea if they can. Vague hours send people straight to a competitor.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515100" y="4211836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6072188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15100" y="4211836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15100" y="4211836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63375" y="4211836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91325" y="4488061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is photos of printed menus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791325" y="4935736"/>
            <a:ext cx="486613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Unreadable on mobile, invisible to Google, and the page itself admits it may not be current.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1982450" y="4211836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82450" y="6072188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82450" y="4211836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982450" y="4211836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23" name="Shape 21"/>
          <p:cNvSpPr/>
          <p:nvPr/>
        </p:nvSpPr>
        <p:spPr>
          <a:xfrm>
            <a:off x="17230725" y="4211836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258675" y="4488061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Tock reservation button is buried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258675" y="4935736"/>
            <a:ext cx="4866132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Reservations run through Tock, which is great, but the button is easy to miss on mobile. Every miss is a lost booking.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047750" y="6291263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" y="8151614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6291263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6291263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30" name="Shape 28"/>
          <p:cNvSpPr/>
          <p:nvPr/>
        </p:nvSpPr>
        <p:spPr>
          <a:xfrm>
            <a:off x="6296025" y="6291263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23975" y="6567488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do not show what this is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323975" y="7015163"/>
            <a:ext cx="4866132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first-time visitor cannot tell if this is a wine shop, fine dining, or a jazz lounge. The identity is lost in five seconds.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6515100" y="6291263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15100" y="8151614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15100" y="6291263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15100" y="6291263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37" name="Shape 35"/>
          <p:cNvSpPr/>
          <p:nvPr/>
        </p:nvSpPr>
        <p:spPr>
          <a:xfrm>
            <a:off x="11763375" y="6291263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91325" y="6567488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 URL is "copy-of-wine-club-1"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6791325" y="7015163"/>
            <a:ext cx="4866132" cy="90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Menus page URL is a leftover Wix slug nobody cleaned up. It signals to Google the page has no structure.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982450" y="6291263"/>
            <a:ext cx="5257800" cy="1869877"/>
          </a:xfrm>
          <a:prstGeom prst="roundRect">
            <a:avLst>
              <a:gd name="adj" fmla="val 2038"/>
            </a:avLst>
          </a:prstGeom>
          <a:solidFill>
            <a:srgbClr val="1D1711"/>
          </a:solidFill>
          <a:ln/>
        </p:spPr>
      </p:sp>
      <p:sp>
        <p:nvSpPr>
          <p:cNvPr id="41" name="Shape 39"/>
          <p:cNvSpPr/>
          <p:nvPr/>
        </p:nvSpPr>
        <p:spPr>
          <a:xfrm>
            <a:off x="11982450" y="8151614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982450" y="6291263"/>
            <a:ext cx="525780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982450" y="6291263"/>
            <a:ext cx="28575" cy="1869877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44" name="Shape 42"/>
          <p:cNvSpPr/>
          <p:nvPr/>
        </p:nvSpPr>
        <p:spPr>
          <a:xfrm>
            <a:off x="17230725" y="6291263"/>
            <a:ext cx="9525" cy="1869877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258675" y="6567488"/>
            <a:ext cx="51968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Copyright footer still says 2024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12258675" y="7015163"/>
            <a:ext cx="4866132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detail, big impression. An outdated footer signals to every visitor that the site is unmaintained.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09600"/>
            <a:ext cx="90270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HOMEPAGE, REIMAGINED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57250" y="1057275"/>
            <a:ext cx="902702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looks like now vs. what it should be.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3310235" y="889695"/>
            <a:ext cx="412051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right-hand preview shows the Find Your Wine page, a custom HTML quiz linked from the homepage. Built for this proposal.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57250" y="1933575"/>
            <a:ext cx="78882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SITE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57250" y="2314575"/>
            <a:ext cx="7171134" cy="4552950"/>
          </a:xfrm>
          <a:prstGeom prst="roundRect">
            <a:avLst>
              <a:gd name="adj" fmla="val 1674"/>
            </a:avLst>
          </a:prstGeom>
          <a:solidFill>
            <a:srgbClr val="E9E6DF"/>
          </a:solidFill>
          <a:ln w="9525">
            <a:solidFill>
              <a:srgbClr val="ECE7D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775" y="2324100"/>
            <a:ext cx="7152084" cy="381000"/>
          </a:xfrm>
          <a:prstGeom prst="rect">
            <a:avLst/>
          </a:prstGeom>
          <a:solidFill>
            <a:srgbClr val="D6D2C8"/>
          </a:solidFill>
          <a:ln/>
        </p:spPr>
      </p:sp>
      <p:sp>
        <p:nvSpPr>
          <p:cNvPr id="8" name="Shape 6"/>
          <p:cNvSpPr/>
          <p:nvPr/>
        </p:nvSpPr>
        <p:spPr>
          <a:xfrm>
            <a:off x="1000125" y="2466975"/>
            <a:ext cx="95250" cy="95250"/>
          </a:xfrm>
          <a:prstGeom prst="ellipse">
            <a:avLst/>
          </a:prstGeom>
          <a:solidFill>
            <a:srgbClr val="B9B4A8"/>
          </a:solidFill>
          <a:ln/>
        </p:spPr>
      </p:sp>
      <p:sp>
        <p:nvSpPr>
          <p:cNvPr id="9" name="Shape 7"/>
          <p:cNvSpPr/>
          <p:nvPr/>
        </p:nvSpPr>
        <p:spPr>
          <a:xfrm>
            <a:off x="1162050" y="2466975"/>
            <a:ext cx="95250" cy="95250"/>
          </a:xfrm>
          <a:prstGeom prst="ellipse">
            <a:avLst/>
          </a:prstGeom>
          <a:solidFill>
            <a:srgbClr val="B9B4A8"/>
          </a:solidFill>
          <a:ln/>
        </p:spPr>
      </p:sp>
      <p:sp>
        <p:nvSpPr>
          <p:cNvPr id="10" name="Shape 8"/>
          <p:cNvSpPr/>
          <p:nvPr/>
        </p:nvSpPr>
        <p:spPr>
          <a:xfrm>
            <a:off x="1323975" y="2466975"/>
            <a:ext cx="95250" cy="95250"/>
          </a:xfrm>
          <a:prstGeom prst="ellipse">
            <a:avLst/>
          </a:prstGeom>
          <a:solidFill>
            <a:srgbClr val="B9B4A8"/>
          </a:solidFill>
          <a:ln/>
        </p:spPr>
      </p:sp>
      <p:sp>
        <p:nvSpPr>
          <p:cNvPr id="11" name="Text 9"/>
          <p:cNvSpPr/>
          <p:nvPr/>
        </p:nvSpPr>
        <p:spPr>
          <a:xfrm>
            <a:off x="1581150" y="2419350"/>
            <a:ext cx="31676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bacchuskitchen.com/copy-of-wine-club-1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66775" y="2705100"/>
            <a:ext cx="7152084" cy="4152900"/>
          </a:xfrm>
          <a:prstGeom prst="rect">
            <a:avLst/>
          </a:prstGeom>
          <a:solidFill>
            <a:srgbClr val="F3F1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7275" y="2895600"/>
            <a:ext cx="4010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477417" y="2895600"/>
            <a:ext cx="3283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Jazz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824782" y="2895600"/>
            <a:ext cx="7352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Picnic Menu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579043" y="2895600"/>
            <a:ext cx="5485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146673" y="2895600"/>
            <a:ext cx="4406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606403" y="2895600"/>
            <a:ext cx="3653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057275" y="3190875"/>
            <a:ext cx="6771084" cy="2409825"/>
          </a:xfrm>
          <a:prstGeom prst="roundRect">
            <a:avLst>
              <a:gd name="adj" fmla="val 1186"/>
            </a:avLst>
          </a:prstGeom>
          <a:solidFill>
            <a:srgbClr val="DCD8CD"/>
          </a:solidFill>
          <a:ln/>
        </p:spPr>
      </p:sp>
      <p:sp>
        <p:nvSpPr>
          <p:cNvPr id="20" name="Text 18"/>
          <p:cNvSpPr/>
          <p:nvPr/>
        </p:nvSpPr>
        <p:spPr>
          <a:xfrm>
            <a:off x="3043684" y="4291013"/>
            <a:ext cx="30779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photo, unclear what this is ]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540401" y="3324225"/>
            <a:ext cx="1154609" cy="2571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3751" y="3381375"/>
            <a:ext cx="9641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identity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1057275" y="5734050"/>
            <a:ext cx="5247084" cy="466725"/>
          </a:xfrm>
          <a:prstGeom prst="roundRect">
            <a:avLst>
              <a:gd name="adj" fmla="val 6122"/>
            </a:avLst>
          </a:prstGeom>
          <a:solidFill>
            <a:srgbClr val="E4E0D6"/>
          </a:solidFill>
          <a:ln/>
        </p:spPr>
      </p:sp>
      <p:sp>
        <p:nvSpPr>
          <p:cNvPr id="24" name="Text 22"/>
          <p:cNvSpPr/>
          <p:nvPr/>
        </p:nvSpPr>
        <p:spPr>
          <a:xfrm>
            <a:off x="1190625" y="5867400"/>
            <a:ext cx="513779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bio paragraph, no CTA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99609" y="5734050"/>
            <a:ext cx="1428750" cy="466725"/>
          </a:xfrm>
          <a:prstGeom prst="roundRect">
            <a:avLst>
              <a:gd name="adj" fmla="val 6122"/>
            </a:avLst>
          </a:prstGeom>
          <a:solidFill>
            <a:srgbClr val="E4E0D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2959" y="5895975"/>
            <a:ext cx="6381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list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754564" y="6067425"/>
            <a:ext cx="1130945" cy="2286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868864" y="6115050"/>
            <a:ext cx="9785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Club hidden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7275" y="6334125"/>
            <a:ext cx="6771084" cy="9525"/>
          </a:xfrm>
          <a:prstGeom prst="rect">
            <a:avLst/>
          </a:prstGeom>
          <a:solidFill>
            <a:srgbClr val="D8D4C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275" y="6472238"/>
            <a:ext cx="151334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Bacchus' Kitchen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6805464" y="6438900"/>
            <a:ext cx="1022896" cy="2286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6919764" y="6486525"/>
            <a:ext cx="8704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footer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66534" y="1933575"/>
            <a:ext cx="98606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SITE · BUILT &amp; CLICKABLE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466534" y="2314575"/>
            <a:ext cx="8964216" cy="5728692"/>
          </a:xfrm>
          <a:prstGeom prst="roundRect">
            <a:avLst>
              <a:gd name="adj" fmla="val 1330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23850" dir="5400000">
              <a:srgbClr val="000000">
                <a:alpha val="5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76059" y="2324100"/>
            <a:ext cx="8945166" cy="419100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36" name="Shape 34"/>
          <p:cNvSpPr/>
          <p:nvPr/>
        </p:nvSpPr>
        <p:spPr>
          <a:xfrm>
            <a:off x="8476059" y="2733675"/>
            <a:ext cx="8945166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628459" y="247650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38" name="Shape 36"/>
          <p:cNvSpPr/>
          <p:nvPr/>
        </p:nvSpPr>
        <p:spPr>
          <a:xfrm>
            <a:off x="8809434" y="247650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39" name="Shape 37"/>
          <p:cNvSpPr/>
          <p:nvPr/>
        </p:nvSpPr>
        <p:spPr>
          <a:xfrm>
            <a:off x="8990409" y="247650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40" name="Text 38"/>
          <p:cNvSpPr/>
          <p:nvPr/>
        </p:nvSpPr>
        <p:spPr>
          <a:xfrm>
            <a:off x="9304734" y="2428875"/>
            <a:ext cx="16159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</a:t>
            </a:r>
            <a:endParaRPr lang="en-US" sz="105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059" y="2743200"/>
            <a:ext cx="8945166" cy="5290542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8466534" y="8195667"/>
            <a:ext cx="2476054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4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47509" y="8281392"/>
            <a:ext cx="21903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headline in 5 seconds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11037838" y="8195667"/>
            <a:ext cx="3526929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4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218813" y="8281392"/>
            <a:ext cx="32707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&amp; Book the Space above the fold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14660017" y="8195667"/>
            <a:ext cx="2185392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4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4840992" y="8281392"/>
            <a:ext cx="189964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Club finally visible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8466534" y="8681442"/>
            <a:ext cx="2489150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4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647509" y="8767167"/>
            <a:ext cx="2203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Find Your Wine quiz page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016175"/>
            <a:ext cx="75902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MOBILE-FIRST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540050"/>
            <a:ext cx="7107275" cy="1961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9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diners decide on their phone. The current site fights them.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047750" y="4711154"/>
            <a:ext cx="710727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68% of restaurant searches happen on mobile. Today the phone experience is the worst version of Bacchus. The new site flips that, so the phone becomes the strongest channel, not the weakest.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47750" y="6463754"/>
            <a:ext cx="36379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E0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6787604"/>
            <a:ext cx="3637984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Cramped nav, tiny tap targets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047750" y="7124254"/>
            <a:ext cx="3637984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is unreadable photos of paper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47750" y="7460903"/>
            <a:ext cx="3406476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button buried and hard to tap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640759" y="6463754"/>
            <a:ext cx="36379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0759" y="6787604"/>
            <a:ext cx="3406476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on every screen, thumb-friendly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640759" y="7394228"/>
            <a:ext cx="3406476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text menu, readable and indexed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4640759" y="8000851"/>
            <a:ext cx="3637984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Stacked, fast, photo-forward layout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717584" y="2205038"/>
            <a:ext cx="3143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204" kern="0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860459" y="2595563"/>
            <a:ext cx="2857500" cy="5810250"/>
          </a:xfrm>
          <a:prstGeom prst="roundRect">
            <a:avLst>
              <a:gd name="adj" fmla="val 14000"/>
            </a:avLst>
          </a:prstGeom>
          <a:solidFill>
            <a:srgbClr val="0A0A0A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666750" dist="285750" dir="54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32009" y="2776538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6" name="Shape 14"/>
          <p:cNvSpPr/>
          <p:nvPr/>
        </p:nvSpPr>
        <p:spPr>
          <a:xfrm>
            <a:off x="9955709" y="2690813"/>
            <a:ext cx="2667000" cy="5619750"/>
          </a:xfrm>
          <a:prstGeom prst="roundRect">
            <a:avLst>
              <a:gd name="adj" fmla="val 12143"/>
            </a:avLst>
          </a:prstGeom>
          <a:solidFill>
            <a:srgbClr val="F3F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9955709" y="2690813"/>
            <a:ext cx="2667000" cy="590550"/>
          </a:xfrm>
          <a:prstGeom prst="rect">
            <a:avLst/>
          </a:prstGeom>
          <a:solidFill>
            <a:srgbClr val="E9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0959" y="3014663"/>
            <a:ext cx="10836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7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Bacchus' Kitchen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300347" y="2976563"/>
            <a:ext cx="2271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955709" y="3281363"/>
            <a:ext cx="2667000" cy="247650"/>
          </a:xfrm>
          <a:prstGeom prst="rect">
            <a:avLst/>
          </a:prstGeom>
          <a:solidFill>
            <a:srgbClr val="E9E6DF"/>
          </a:solidFill>
          <a:ln/>
        </p:spPr>
      </p:sp>
      <p:sp>
        <p:nvSpPr>
          <p:cNvPr id="21" name="Shape 19"/>
          <p:cNvSpPr/>
          <p:nvPr/>
        </p:nvSpPr>
        <p:spPr>
          <a:xfrm>
            <a:off x="9955709" y="3519488"/>
            <a:ext cx="2667000" cy="9525"/>
          </a:xfrm>
          <a:prstGeom prst="rect">
            <a:avLst/>
          </a:prstGeom>
          <a:solidFill>
            <a:srgbClr val="D8D4C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0959" y="3338513"/>
            <a:ext cx="326082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367516" y="3338513"/>
            <a:ext cx="270272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Jazz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28263" y="3338513"/>
            <a:ext cx="583257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Picnic Menu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995" y="3338513"/>
            <a:ext cx="439489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631960" y="3338513"/>
            <a:ext cx="304651" cy="1619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Win…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955709" y="3529013"/>
            <a:ext cx="2667000" cy="1428750"/>
          </a:xfrm>
          <a:prstGeom prst="rect">
            <a:avLst/>
          </a:prstGeom>
          <a:solidFill>
            <a:srgbClr val="DCD8CD"/>
          </a:solidFill>
          <a:ln/>
        </p:spPr>
      </p:sp>
      <p:sp>
        <p:nvSpPr>
          <p:cNvPr id="28" name="Text 26"/>
          <p:cNvSpPr/>
          <p:nvPr/>
        </p:nvSpPr>
        <p:spPr>
          <a:xfrm>
            <a:off x="10962531" y="4167188"/>
            <a:ext cx="653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A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 ]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12046744" y="3605213"/>
            <a:ext cx="499765" cy="16192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12094369" y="3633788"/>
            <a:ext cx="40451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050959" y="5091113"/>
            <a:ext cx="2476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Bacchus' Kitchen is a restaurant and wine bar. Chef Claud has a long background that goes here in a dense paragraph with no clear next step for the visitor to take…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0898981" y="5881688"/>
            <a:ext cx="7804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u="sng" dirty="0">
                <a:solidFill>
                  <a:srgbClr val="6A8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a table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1826776" y="5757863"/>
            <a:ext cx="557510" cy="152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11855351" y="5786438"/>
            <a:ext cx="500360" cy="133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tap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9955709" y="7977188"/>
            <a:ext cx="2667000" cy="333375"/>
          </a:xfrm>
          <a:prstGeom prst="rect">
            <a:avLst/>
          </a:prstGeom>
          <a:solidFill>
            <a:srgbClr val="E9E6DF"/>
          </a:solidFill>
          <a:ln/>
        </p:spPr>
      </p:sp>
      <p:sp>
        <p:nvSpPr>
          <p:cNvPr id="36" name="Shape 34"/>
          <p:cNvSpPr/>
          <p:nvPr/>
        </p:nvSpPr>
        <p:spPr>
          <a:xfrm>
            <a:off x="9955709" y="7977188"/>
            <a:ext cx="2667000" cy="9525"/>
          </a:xfrm>
          <a:prstGeom prst="rect">
            <a:avLst/>
          </a:prstGeom>
          <a:solidFill>
            <a:srgbClr val="D8D4C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0959" y="8091488"/>
            <a:ext cx="70440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9A9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2024 Bacchus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11984236" y="8072438"/>
            <a:ext cx="505123" cy="152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12022336" y="8101013"/>
            <a:ext cx="42892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12994184" y="1881187"/>
            <a:ext cx="31432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204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· MOBILE-FIRST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3137059" y="2271713"/>
            <a:ext cx="2857500" cy="6134100"/>
          </a:xfrm>
          <a:prstGeom prst="roundRect">
            <a:avLst>
              <a:gd name="adj" fmla="val 14000"/>
            </a:avLst>
          </a:prstGeom>
          <a:solidFill>
            <a:srgbClr val="0A0A0A"/>
          </a:solidFill>
          <a:ln w="9525">
            <a:solidFill>
              <a:srgbClr val="3A2E23"/>
            </a:solidFill>
            <a:prstDash val="solid"/>
          </a:ln>
          <a:effectLst>
            <a:outerShdw sx="100000" sy="100000" kx="0" ky="0" algn="bl" rotWithShape="0" blurRad="762000" dist="323850" dir="5400000">
              <a:srgbClr val="000000">
                <a:alpha val="6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4108609" y="2452688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43" name="Shape 41"/>
          <p:cNvSpPr/>
          <p:nvPr/>
        </p:nvSpPr>
        <p:spPr>
          <a:xfrm>
            <a:off x="13232309" y="2366963"/>
            <a:ext cx="2667000" cy="5943600"/>
          </a:xfrm>
          <a:prstGeom prst="roundRect">
            <a:avLst>
              <a:gd name="adj" fmla="val 12143"/>
            </a:avLst>
          </a:prstGeom>
          <a:solidFill>
            <a:srgbClr val="14100C"/>
          </a:solidFill>
          <a:ln/>
        </p:spPr>
      </p:sp>
      <p:sp>
        <p:nvSpPr>
          <p:cNvPr id="44" name="Text 42"/>
          <p:cNvSpPr/>
          <p:nvPr/>
        </p:nvSpPr>
        <p:spPr>
          <a:xfrm>
            <a:off x="13346609" y="2676525"/>
            <a:ext cx="6661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7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Bacchus'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5128081" y="2652713"/>
            <a:ext cx="618827" cy="228600"/>
          </a:xfrm>
          <a:prstGeom prst="roundRect">
            <a:avLst>
              <a:gd name="adj" fmla="val 50000"/>
            </a:avLst>
          </a:prstGeom>
          <a:solidFill>
            <a:srgbClr val="CF8F55"/>
          </a:solidFill>
          <a:ln/>
        </p:spPr>
      </p:sp>
      <p:sp>
        <p:nvSpPr>
          <p:cNvPr id="46" name="Text 44"/>
          <p:cNvSpPr/>
          <p:nvPr/>
        </p:nvSpPr>
        <p:spPr>
          <a:xfrm>
            <a:off x="15204281" y="2709863"/>
            <a:ext cx="4664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51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232309" y="2976563"/>
            <a:ext cx="2667000" cy="2019300"/>
          </a:xfrm>
          <a:prstGeom prst="rect">
            <a:avLst/>
          </a:prstGeom>
          <a:gradFill rotWithShape="1">
            <a:gsLst>
              <a:gs pos="0">
                <a:srgbClr val="CF8F55">
                  <a:alpha val="32000"/>
                </a:srgbClr>
              </a:gs>
              <a:gs pos="54000">
                <a:srgbClr val="CF8F55">
                  <a:alpha val="0"/>
                </a:srgbClr>
              </a:gs>
            </a:gsLst>
            <a:path path="circle">
              <a:fillToRect l="72000" t="16000" r="28000" b="84000"/>
            </a:path>
          </a:gradFill>
          <a:ln/>
        </p:spPr>
      </p:sp>
      <p:sp>
        <p:nvSpPr>
          <p:cNvPr id="48" name="Text 46"/>
          <p:cNvSpPr/>
          <p:nvPr/>
        </p:nvSpPr>
        <p:spPr>
          <a:xfrm>
            <a:off x="13266599" y="4132957"/>
            <a:ext cx="25984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spc="12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JAZZ · CURATED WINE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13346609" y="4323457"/>
            <a:ext cx="24384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intimate night of jazz &amp; wine.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3384709" y="5129213"/>
            <a:ext cx="2362200" cy="390525"/>
          </a:xfrm>
          <a:prstGeom prst="roundRect">
            <a:avLst>
              <a:gd name="adj" fmla="val 14634"/>
            </a:avLst>
          </a:prstGeom>
          <a:solidFill>
            <a:srgbClr val="CF8F55"/>
          </a:solidFill>
          <a:ln/>
        </p:spPr>
      </p:sp>
      <p:sp>
        <p:nvSpPr>
          <p:cNvPr id="51" name="Text 49"/>
          <p:cNvSpPr/>
          <p:nvPr/>
        </p:nvSpPr>
        <p:spPr>
          <a:xfrm>
            <a:off x="13470434" y="5253038"/>
            <a:ext cx="21907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1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Table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13384709" y="5595938"/>
            <a:ext cx="2362200" cy="409575"/>
          </a:xfrm>
          <a:prstGeom prst="roundRect">
            <a:avLst>
              <a:gd name="adj" fmla="val 13953"/>
            </a:avLst>
          </a:prstGeom>
          <a:ln w="9525">
            <a:solidFill>
              <a:srgbClr val="ECE7DF">
                <a:alpha val="28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479959" y="5729288"/>
            <a:ext cx="2171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CE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Space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13384709" y="6138863"/>
            <a:ext cx="2362200" cy="581025"/>
          </a:xfrm>
          <a:prstGeom prst="roundRect">
            <a:avLst>
              <a:gd name="adj" fmla="val 13115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527584" y="6262688"/>
            <a:ext cx="15118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JUL 12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13527584" y="6405563"/>
            <a:ext cx="1511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Brandon Coleman Trio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5211127" y="6376988"/>
            <a:ext cx="4310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3384709" y="6834188"/>
            <a:ext cx="2362200" cy="53340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3A141C">
                  <a:alpha val="100000"/>
                </a:srgbClr>
              </a:gs>
              <a:gs pos="100000">
                <a:srgbClr val="240D1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59" name="Text 57"/>
          <p:cNvSpPr/>
          <p:nvPr/>
        </p:nvSpPr>
        <p:spPr>
          <a:xfrm>
            <a:off x="13518059" y="6948488"/>
            <a:ext cx="11964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Club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3518059" y="7138988"/>
            <a:ext cx="11964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E0A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$100/mo · 3 bottles · 6 perks</a:t>
            </a:r>
            <a:endParaRPr lang="en-US" sz="675" dirty="0"/>
          </a:p>
        </p:txBody>
      </p:sp>
      <p:sp>
        <p:nvSpPr>
          <p:cNvPr id="61" name="Shape 59"/>
          <p:cNvSpPr/>
          <p:nvPr/>
        </p:nvSpPr>
        <p:spPr>
          <a:xfrm>
            <a:off x="15248186" y="7000875"/>
            <a:ext cx="365373" cy="200025"/>
          </a:xfrm>
          <a:prstGeom prst="roundRect">
            <a:avLst>
              <a:gd name="adj" fmla="val 50000"/>
            </a:avLst>
          </a:prstGeom>
          <a:solidFill>
            <a:srgbClr val="E8C99A"/>
          </a:solidFill>
          <a:ln/>
        </p:spPr>
      </p:sp>
      <p:sp>
        <p:nvSpPr>
          <p:cNvPr id="62" name="Text 60"/>
          <p:cNvSpPr/>
          <p:nvPr/>
        </p:nvSpPr>
        <p:spPr>
          <a:xfrm>
            <a:off x="15305336" y="7048500"/>
            <a:ext cx="2510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0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878509"/>
            <a:ext cx="173926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2402384"/>
            <a:ext cx="173926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pages. Each with one job.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1238250" y="3431084"/>
            <a:ext cx="129501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brochure, a system. Every page converts one kind of visitor and ranks for one kind of search. Here is the full set; the next slides walk through each, built and clickable.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38250" y="4745534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4926509"/>
            <a:ext cx="3382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90836" y="4945559"/>
            <a:ext cx="43442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690836" y="5288459"/>
            <a:ext cx="434423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five-second answer, reserve and quiz up top.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477375" y="4745534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477375" y="4926509"/>
            <a:ext cx="3609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952583" y="4945559"/>
            <a:ext cx="35158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952583" y="5288459"/>
            <a:ext cx="3515856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calendar, every show reservable.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238250" y="5704136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885111"/>
            <a:ext cx="3567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709291" y="5904161"/>
            <a:ext cx="39429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709291" y="6247061"/>
            <a:ext cx="3942978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text, mobile-ready and Google-indexed.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477375" y="5704136"/>
            <a:ext cx="7572375" cy="9525"/>
          </a:xfrm>
          <a:prstGeom prst="rect">
            <a:avLst/>
          </a:prstGeom>
          <a:solidFill>
            <a:srgbClr val="CF8F55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77375" y="5885111"/>
            <a:ext cx="376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968508" y="5904161"/>
            <a:ext cx="45194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Find Your Wine </a:t>
            </a:r>
            <a:pPr algn="l" indent="0" marL="0">
              <a:buNone/>
            </a:pPr>
            <a:r>
              <a:rPr lang="en-US" sz="900" b="1" dirty="0">
                <a:solidFill>
                  <a:srgbClr val="15100C"/>
                </a:solidFill>
                <a:highlight>
                  <a:srgbClr val="CF8F5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68508" y="6247061"/>
            <a:ext cx="4519404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wine quiz, optional add-on, custom built and embedded. Not part of the core Squarespace template build.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238250" y="6662738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6843713"/>
            <a:ext cx="3631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715691" y="6862763"/>
            <a:ext cx="44761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715691" y="7205663"/>
            <a:ext cx="4476184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plus an inquiry form that captures leads.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477375" y="6662738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77375" y="6843713"/>
            <a:ext cx="3812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972973" y="6862763"/>
            <a:ext cx="38588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Rental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72973" y="7205663"/>
            <a:ext cx="3858831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Capacity, layouts, and a check-a-date form.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238250" y="7621339"/>
            <a:ext cx="7572375" cy="9525"/>
          </a:xfrm>
          <a:prstGeom prst="rect">
            <a:avLst/>
          </a:prstGeom>
          <a:solidFill>
            <a:srgbClr val="ECE7DF">
              <a:alpha val="1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38250" y="7802314"/>
            <a:ext cx="36968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722239" y="7821364"/>
            <a:ext cx="41589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Club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722239" y="8164264"/>
            <a:ext cx="415891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2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asset gets its own page and signup.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ven p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3536"/>
            <a:ext cx="65001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02 /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Events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nights, there's a band.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calendar with the artist, time, and price for every show, and a reserve link on each one. Jazz brunches, winemaker dinners, and late sets.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69231" y="5821114"/>
            <a:ext cx="335656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show links to a real table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469231" y="6239173"/>
            <a:ext cx="4190836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Brunches, winemaker dinners, late sets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6657231"/>
            <a:ext cx="3843278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rank for live-music searches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38250" y="7265789"/>
            <a:ext cx="2935337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90626" y="7370564"/>
            <a:ext cx="17412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"live jazz Pasadena"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9121" y="2297162"/>
            <a:ext cx="240458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bacchuskitchen.com/events</a:t>
            </a:r>
            <a:endParaRPr lang="en-US" sz="11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3536"/>
            <a:ext cx="65001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03 /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text, not photos of paper.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menu as actual text, readable on a phone, indexable by Google, and refreshed every time the kitchen changes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69231" y="5821114"/>
            <a:ext cx="2131025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on mobile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469231" y="6239173"/>
            <a:ext cx="2212062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Indexable by Google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6657231"/>
            <a:ext cx="3095446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and always current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38250" y="7265789"/>
            <a:ext cx="4359176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90626" y="7370564"/>
            <a:ext cx="33074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American restaurant Pasadena"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9121" y="2297162"/>
            <a:ext cx="22122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bacchuskitchen.com/menu</a:t>
            </a:r>
            <a:endParaRPr lang="en-US" sz="11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A141C">
                  <a:alpha val="100000"/>
                </a:srgbClr>
              </a:gs>
              <a:gs pos="60000">
                <a:srgbClr val="1D0E10">
                  <a:alpha val="100000"/>
                </a:srgbClr>
              </a:gs>
              <a:gs pos="100000">
                <a:srgbClr val="140E0A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478000" y="-952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CF8F55">
                  <a:alpha val="18000"/>
                </a:srgbClr>
              </a:gs>
              <a:gs pos="66000">
                <a:srgbClr val="CF8F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238250" y="2573536"/>
            <a:ext cx="40200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04 / 07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6223" y="2602111"/>
            <a:ext cx="503634" cy="219075"/>
          </a:xfrm>
          <a:prstGeom prst="roundRect">
            <a:avLst>
              <a:gd name="adj" fmla="val 50000"/>
            </a:avLst>
          </a:prstGeom>
          <a:solidFill>
            <a:srgbClr val="CF8F55"/>
          </a:solidFill>
          <a:ln/>
        </p:spPr>
      </p:sp>
      <p:sp>
        <p:nvSpPr>
          <p:cNvPr id="6" name="Text 4"/>
          <p:cNvSpPr/>
          <p:nvPr/>
        </p:nvSpPr>
        <p:spPr>
          <a:xfrm>
            <a:off x="5140523" y="2640211"/>
            <a:ext cx="3512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1510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ADD-ON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Wine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add-on, custom built, not part of the core Squarespace template.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quick questions match each visitor to a glass off the list and the Wine Club tier that fits. Custom built and embedded on a dedicated page, this is an optional add-on, priced separately from the core site build.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5821114"/>
            <a:ext cx="2690589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Five-question palate quiz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69231" y="6239173"/>
            <a:ext cx="403220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wine + Wine Club match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469231" y="6657231"/>
            <a:ext cx="2824341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capture to follow up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238250" y="7265789"/>
            <a:ext cx="3067348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2000"/>
            </a:srgbClr>
          </a:solidFill>
          <a:ln w="9525">
            <a:solidFill>
              <a:srgbClr val="E8C99A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390626" y="7370564"/>
            <a:ext cx="18864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0E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"wine club Pasadena"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8C99A">
                <a:alpha val="28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6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A111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23" name="Shape 21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5" name="Text 23"/>
          <p:cNvSpPr/>
          <p:nvPr/>
        </p:nvSpPr>
        <p:spPr>
          <a:xfrm>
            <a:off x="8919121" y="2297162"/>
            <a:ext cx="31741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B39A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bacchuskitchen.com/find-your-wine</a:t>
            </a:r>
            <a:endParaRPr lang="en-US" sz="1125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3536"/>
            <a:ext cx="65001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05 /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lead channel, finally.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clear packages and an inquiry form that captures the lead, the front door for catering revenue that doesn't exist online today.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69231" y="5821114"/>
            <a:ext cx="3532882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Drop-off, full-service, and buyout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469231" y="6239173"/>
            <a:ext cx="325195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form with lead capture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6657231"/>
            <a:ext cx="2984942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From-pricing shown upfront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38250" y="7265789"/>
            <a:ext cx="2957066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90626" y="7370564"/>
            <a:ext cx="17651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"catering Pasadena"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9121" y="2297162"/>
            <a:ext cx="2597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bacchuskitchen.com/catering</a:t>
            </a:r>
            <a:endParaRPr lang="en-US" sz="11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3536"/>
            <a:ext cx="65001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06 /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 Rental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room, as a product.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Capacity, layouts, and an availability form turn the space itself into a bookable, searchable offer, not promoted online at all today.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69231" y="5821114"/>
            <a:ext cx="2527533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seated / 90 standing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469231" y="6239173"/>
            <a:ext cx="3137356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spaces to choose from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6657231"/>
            <a:ext cx="282827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Check-a-date inquiry form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38250" y="7265789"/>
            <a:ext cx="3279725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90626" y="7370564"/>
            <a:ext cx="21200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"event venue Pasadena"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9121" y="2297162"/>
            <a:ext cx="23084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bacchuskitchen.com/venue</a:t>
            </a:r>
            <a:endParaRPr lang="en-US" sz="11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573536"/>
            <a:ext cx="65001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90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SITE · 07 / 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3059311"/>
            <a:ext cx="650014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Club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882182"/>
            <a:ext cx="6500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asset, surfaced.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8250" y="4472732"/>
            <a:ext cx="6086497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$100-a-month club finally gets its own page and signup flow, with all six perks laid out, a discovery and retention engine no competitor has.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5849689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469231" y="5821114"/>
            <a:ext cx="3148980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$100/mo · 3 bottles · 6 perks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238250" y="6267748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469231" y="6239173"/>
            <a:ext cx="2370371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signup flow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38250" y="6685806"/>
            <a:ext cx="17383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69231" y="6657231"/>
            <a:ext cx="2604314" cy="32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2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searchable page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38250" y="7265789"/>
            <a:ext cx="3067348" cy="44767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7394377"/>
            <a:ext cx="914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 FOR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90626" y="7370564"/>
            <a:ext cx="18864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"wine club Pasadena"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061871" y="2163812"/>
            <a:ext cx="9273629" cy="5959376"/>
          </a:xfrm>
          <a:prstGeom prst="roundRect">
            <a:avLst>
              <a:gd name="adj" fmla="val 1598"/>
            </a:avLst>
          </a:prstGeom>
          <a:ln w="9525">
            <a:solidFill>
              <a:srgbClr val="ECE7DF">
                <a:alpha val="16000"/>
              </a:srgbClr>
            </a:solidFill>
            <a:prstDash val="solid"/>
          </a:ln>
          <a:effectLst>
            <a:outerShdw sx="100000" sy="100000" kx="0" ky="0" algn="bl" rotWithShape="0" blurRad="857250" dist="381000" dir="54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1396" y="2173337"/>
            <a:ext cx="9254579" cy="46672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1396" y="2630537"/>
            <a:ext cx="9254579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42846" y="2349550"/>
            <a:ext cx="104775" cy="104775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3821" y="2349550"/>
            <a:ext cx="104775" cy="104775"/>
          </a:xfrm>
          <a:prstGeom prst="ellipse">
            <a:avLst/>
          </a:prstGeom>
          <a:solidFill>
            <a:srgbClr val="E0A9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04796" y="2349550"/>
            <a:ext cx="104775" cy="104775"/>
          </a:xfrm>
          <a:prstGeom prst="ellipse">
            <a:avLst/>
          </a:prstGeom>
          <a:solidFill>
            <a:srgbClr val="9AB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9121" y="2297162"/>
            <a:ext cx="2693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bacchuskitchen.com/wine-club</a:t>
            </a:r>
            <a:endParaRPr lang="en-US" sz="11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1396" y="2640062"/>
            <a:ext cx="9254579" cy="54736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A141C">
                  <a:alpha val="100000"/>
                </a:srgbClr>
              </a:gs>
              <a:gs pos="100000">
                <a:srgbClr val="220C11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859000" y="-7620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CF8F55">
                  <a:alpha val="20000"/>
                </a:srgbClr>
              </a:gs>
              <a:gs pos="68000">
                <a:srgbClr val="CF8F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2000250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HIDDEN ASSET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2524125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Wine Club is already a competitive advantage.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1047750" y="3381375"/>
            <a:ext cx="1275397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$100 per month club with real perks, barely promoted and almost invisible to anyone who does not already know about it. That is a missed revenue and retention tool, sitting in plain sight.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47750" y="4572000"/>
            <a:ext cx="5270450" cy="1419225"/>
          </a:xfrm>
          <a:prstGeom prst="roundRect">
            <a:avLst>
              <a:gd name="adj" fmla="val 3356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4925" y="4810125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Curated Bottles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04925" y="5219700"/>
            <a:ext cx="489878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Handpicked monthly. Boutique wines not in grocery stores.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08700" y="4572000"/>
            <a:ext cx="5270450" cy="1419225"/>
          </a:xfrm>
          <a:prstGeom prst="roundRect">
            <a:avLst>
              <a:gd name="adj" fmla="val 3356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5875" y="4810125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Corkage on 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65875" y="5219700"/>
            <a:ext cx="523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 bottle from the three-pack, corkage waived.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969651" y="4572000"/>
            <a:ext cx="5270450" cy="1419225"/>
          </a:xfrm>
          <a:prstGeom prst="roundRect">
            <a:avLst>
              <a:gd name="adj" fmla="val 3356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26826" y="4810125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Off Midweek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226826" y="5219700"/>
            <a:ext cx="523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repeat Tuesday-through-Thursday visits.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47750" y="6181725"/>
            <a:ext cx="5270450" cy="1152525"/>
          </a:xfrm>
          <a:prstGeom prst="roundRect">
            <a:avLst>
              <a:gd name="adj" fmla="val 4132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4925" y="6419850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 Off Tickets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04925" y="6829425"/>
            <a:ext cx="523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standing reason to fill seats at jazz nights.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08700" y="6181725"/>
            <a:ext cx="5270450" cy="1152525"/>
          </a:xfrm>
          <a:prstGeom prst="roundRect">
            <a:avLst>
              <a:gd name="adj" fmla="val 4132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5875" y="6419850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Off To-Go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765875" y="6829425"/>
            <a:ext cx="523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bottle sales outside of dining visits.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969651" y="6181725"/>
            <a:ext cx="5270450" cy="1152525"/>
          </a:xfrm>
          <a:prstGeom prst="roundRect">
            <a:avLst>
              <a:gd name="adj" fmla="val 4132"/>
            </a:avLst>
          </a:prstGeom>
          <a:solidFill>
            <a:srgbClr val="140C0A">
              <a:alpha val="40000"/>
            </a:srgbClr>
          </a:solidFill>
          <a:ln w="9525">
            <a:solidFill>
              <a:srgbClr val="E8C99A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226826" y="6419850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Pickup Parties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226826" y="6829425"/>
            <a:ext cx="523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exclusive in-person perk that builds loyalty.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47750" y="7715250"/>
            <a:ext cx="127539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8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What I will do · </a:t>
            </a:r>
            <a:pPr algn="l" indent="0" marL="0">
              <a:buNone/>
            </a:pPr>
            <a:r>
              <a:rPr lang="en-US" sz="1725" dirty="0">
                <a:solidFill>
                  <a:srgbClr val="E8C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Wine Club its own homepage section, a dedicated signup flow, and SEO copy so it shows up when people search for wine clubs in Pasadena.</a:t>
            </a:r>
            <a:endParaRPr lang="en-US" sz="17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721197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SITE, SIX REVENUE STREAMS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245072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service finally has a digital front door.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047750" y="3064222"/>
            <a:ext cx="1295019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 these streams exist but operate in silos. The site does not connect them. The new one gives each one a clear path, so a visitor who comes for jazz can also discover the Wine Club or inquire about the space.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4207222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5769322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207222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8675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04925" y="4483447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 Reservations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04925" y="4950172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Tock button on every page · clear hours and current menu · frictionless path to book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8700" y="4207222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13" name="Shape 11"/>
          <p:cNvSpPr/>
          <p:nvPr/>
        </p:nvSpPr>
        <p:spPr>
          <a:xfrm>
            <a:off x="6508700" y="5769322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08700" y="4207222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8700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69626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65875" y="4483447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Jazz &amp; Live Events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765875" y="4950172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calendar · ticket and reservation links · designed to drive repeat visits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969651" y="4207222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69651" y="5769322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69651" y="4207222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69651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230576" y="4207222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226826" y="4483447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Club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2226826" y="4950172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per month recurring · signup flow on homepage · SEO for "wine club Pasadena"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47750" y="5969347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750" y="7531447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7750" y="5969347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08675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04925" y="6245572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304925" y="6712297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page · inquiry form with lead capture · SEO for "catering Pasadena"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08700" y="5969347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8700" y="7531447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08700" y="5969347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08700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769626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65875" y="6245572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 Rental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6765875" y="6712297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and layout details · photo gallery · inquiry form for bookings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969651" y="5969347"/>
            <a:ext cx="5270450" cy="1571625"/>
          </a:xfrm>
          <a:prstGeom prst="roundRect">
            <a:avLst>
              <a:gd name="adj" fmla="val 2424"/>
            </a:avLst>
          </a:prstGeom>
          <a:solidFill>
            <a:srgbClr val="1D1711"/>
          </a:solidFill>
          <a:ln/>
        </p:spPr>
      </p:sp>
      <p:sp>
        <p:nvSpPr>
          <p:cNvPr id="41" name="Shape 39"/>
          <p:cNvSpPr/>
          <p:nvPr/>
        </p:nvSpPr>
        <p:spPr>
          <a:xfrm>
            <a:off x="11969651" y="7531447"/>
            <a:ext cx="5270450" cy="95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969651" y="5969347"/>
            <a:ext cx="5270450" cy="285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43" name="Shape 41"/>
          <p:cNvSpPr/>
          <p:nvPr/>
        </p:nvSpPr>
        <p:spPr>
          <a:xfrm>
            <a:off x="11969651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7230576" y="5969347"/>
            <a:ext cx="9525" cy="1571625"/>
          </a:xfrm>
          <a:prstGeom prst="rect">
            <a:avLst/>
          </a:prstGeom>
          <a:solidFill>
            <a:srgbClr val="ECE7DF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226826" y="6245572"/>
            <a:ext cx="5231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Cards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12226826" y="6712297"/>
            <a:ext cx="48987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on homepage · natural upsell after events · passive revenue opportunity year-round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47750" y="7902922"/>
            <a:ext cx="1295019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looking for a jazz night could discover the Wine Club, or inquire about booking the space for a birthday dinner. The site makes that path possible, Bacchus still has to close it.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014538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IN CONTEXT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538413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right. Just not findable.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047750" y="3357563"/>
            <a:ext cx="1295019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the product or the price. It is that nobody can find it. Here is how Bacchus compares to the market.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4481513"/>
            <a:ext cx="86648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JAZZ EVENTS &amp; COVER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47750" y="5805488"/>
            <a:ext cx="787717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5091113"/>
            <a:ext cx="26734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Vibrato, Bel Air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5414963"/>
            <a:ext cx="2673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end, Herb Alpert's venue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01111" y="5091113"/>
            <a:ext cx="1300014" cy="581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 to $60+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6700838"/>
            <a:ext cx="787717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986463"/>
            <a:ext cx="282696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Catalina Jazz Club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6310313"/>
            <a:ext cx="28269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LA's priciest, per Time Out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61461" y="5986463"/>
            <a:ext cx="1839664" cy="581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to $30 + min.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6710363"/>
            <a:ext cx="7877175" cy="866775"/>
          </a:xfrm>
          <a:prstGeom prst="roundRect">
            <a:avLst>
              <a:gd name="adj" fmla="val 4396"/>
            </a:avLst>
          </a:prstGeom>
          <a:solidFill>
            <a:srgbClr val="CF8F55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7567612"/>
            <a:ext cx="7877175" cy="952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6881813"/>
            <a:ext cx="296758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Bacchus' Kitchen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1100" y="7177088"/>
            <a:ext cx="29675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with the neighborhood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11083" y="6881813"/>
            <a:ext cx="1156692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 to $65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63075" y="4481513"/>
            <a:ext cx="86648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00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CLUB MEMBERSHIPS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363075" y="5805488"/>
            <a:ext cx="787717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63075" y="5091113"/>
            <a:ext cx="2508379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LA-area club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63075" y="5414963"/>
            <a:ext cx="2508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2 bottles, fewer perks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016436" y="5091113"/>
            <a:ext cx="1300014" cy="581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 to $150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63075" y="6700838"/>
            <a:ext cx="787717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63075" y="5986463"/>
            <a:ext cx="2753618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Cellar, Pasadena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63075" y="6310313"/>
            <a:ext cx="27536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membership structure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951398" y="5986463"/>
            <a:ext cx="1365052" cy="581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2-bottle min.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63075" y="6710363"/>
            <a:ext cx="7877175" cy="866775"/>
          </a:xfrm>
          <a:prstGeom prst="roundRect">
            <a:avLst>
              <a:gd name="adj" fmla="val 4396"/>
            </a:avLst>
          </a:prstGeom>
          <a:solidFill>
            <a:srgbClr val="CF8F55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363075" y="7567612"/>
            <a:ext cx="7877175" cy="952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30" name="Text 28"/>
          <p:cNvSpPr/>
          <p:nvPr/>
        </p:nvSpPr>
        <p:spPr>
          <a:xfrm>
            <a:off x="9496425" y="6881813"/>
            <a:ext cx="219438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 Wine Club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96425" y="7177088"/>
            <a:ext cx="219438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bottles + 6 perks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5772358" y="6881813"/>
            <a:ext cx="1410742" cy="552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/ month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47750" y="7977188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takeaway: Bacchus is priced right. Neither the events nor the club need a price cut. They need to be findable.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147888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671763"/>
            <a:ext cx="178117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owns the lane Bacchus can own.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047750" y="3643313"/>
            <a:ext cx="16192500" cy="3581400"/>
          </a:xfrm>
          <a:prstGeom prst="roundRect">
            <a:avLst>
              <a:gd name="adj" fmla="val 1596"/>
            </a:avLst>
          </a:prstGeom>
          <a:ln w="9525">
            <a:solidFill>
              <a:srgbClr val="ECE7D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" y="3652838"/>
            <a:ext cx="16173450" cy="600075"/>
          </a:xfrm>
          <a:prstGeom prst="rect">
            <a:avLst/>
          </a:prstGeom>
          <a:solidFill>
            <a:srgbClr val="221C16"/>
          </a:solidFill>
          <a:ln/>
        </p:spPr>
      </p:sp>
      <p:sp>
        <p:nvSpPr>
          <p:cNvPr id="6" name="Text 4"/>
          <p:cNvSpPr/>
          <p:nvPr/>
        </p:nvSpPr>
        <p:spPr>
          <a:xfrm>
            <a:off x="5629416" y="3824287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Vibrato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418010" y="3824287"/>
            <a:ext cx="2567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Catalina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206452" y="3824287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Note LA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13884473" y="3652838"/>
            <a:ext cx="3346103" cy="600075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0" name="Text 8"/>
          <p:cNvSpPr/>
          <p:nvPr/>
        </p:nvSpPr>
        <p:spPr>
          <a:xfrm>
            <a:off x="13986682" y="3824287"/>
            <a:ext cx="31416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51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Bacchus'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057275" y="4252913"/>
            <a:ext cx="16173450" cy="9525"/>
          </a:xfrm>
          <a:prstGeom prst="rect">
            <a:avLst/>
          </a:prstGeom>
          <a:solidFill>
            <a:srgbClr val="ECE7D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85875" y="4424362"/>
            <a:ext cx="41382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Visibility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629416" y="4424362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8010" y="4424362"/>
            <a:ext cx="2567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06452" y="4424362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Strong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884473" y="4262438"/>
            <a:ext cx="3346103" cy="581025"/>
          </a:xfrm>
          <a:prstGeom prst="rect">
            <a:avLst/>
          </a:prstGeom>
          <a:solidFill>
            <a:srgbClr val="CF8F55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986682" y="4424362"/>
            <a:ext cx="31416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0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7275" y="4843463"/>
            <a:ext cx="16173450" cy="9525"/>
          </a:xfrm>
          <a:prstGeom prst="rect">
            <a:avLst/>
          </a:prstGeom>
          <a:solidFill>
            <a:srgbClr val="ECE7D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85875" y="5014913"/>
            <a:ext cx="41382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Site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629416" y="5014913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8010" y="5014913"/>
            <a:ext cx="2567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206452" y="5014913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884473" y="4852988"/>
            <a:ext cx="3346103" cy="581025"/>
          </a:xfrm>
          <a:prstGeom prst="rect">
            <a:avLst/>
          </a:prstGeom>
          <a:solidFill>
            <a:srgbClr val="CF8F55">
              <a:alpha val="7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986682" y="5014913"/>
            <a:ext cx="31416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0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Work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57275" y="5434013"/>
            <a:ext cx="16173450" cy="9525"/>
          </a:xfrm>
          <a:prstGeom prst="rect">
            <a:avLst/>
          </a:prstGeom>
          <a:solidFill>
            <a:srgbClr val="ECE7D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85875" y="5605463"/>
            <a:ext cx="41382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Brand Identity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629416" y="5605463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8010" y="5605463"/>
            <a:ext cx="2567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206452" y="5605463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884473" y="5443538"/>
            <a:ext cx="3346103" cy="581025"/>
          </a:xfrm>
          <a:prstGeom prst="rect">
            <a:avLst/>
          </a:prstGeom>
          <a:solidFill>
            <a:srgbClr val="CF8F55">
              <a:alpha val="7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986682" y="5605463"/>
            <a:ext cx="31416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08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Untapped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57275" y="6024563"/>
            <a:ext cx="16173450" cy="9525"/>
          </a:xfrm>
          <a:prstGeom prst="rect">
            <a:avLst/>
          </a:prstGeom>
          <a:solidFill>
            <a:srgbClr val="ECE7D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85875" y="6196012"/>
            <a:ext cx="41382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&amp; Venue Rental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5629416" y="6196012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8010" y="6196012"/>
            <a:ext cx="2567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06452" y="6196012"/>
            <a:ext cx="2567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884473" y="6034088"/>
            <a:ext cx="3346103" cy="581025"/>
          </a:xfrm>
          <a:prstGeom prst="rect">
            <a:avLst/>
          </a:prstGeom>
          <a:solidFill>
            <a:srgbClr val="CF8F55">
              <a:alpha val="7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3986682" y="6196012"/>
            <a:ext cx="31416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but Hidden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57275" y="6615113"/>
            <a:ext cx="16173450" cy="9525"/>
          </a:xfrm>
          <a:prstGeom prst="rect">
            <a:avLst/>
          </a:prstGeom>
          <a:solidFill>
            <a:srgbClr val="ECE7DF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285875" y="6786563"/>
            <a:ext cx="41382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Club or Loyalty Perk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5629416" y="6786563"/>
            <a:ext cx="2567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18010" y="6786563"/>
            <a:ext cx="2567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206452" y="6786563"/>
            <a:ext cx="2567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3884473" y="6624638"/>
            <a:ext cx="3346103" cy="5905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45" name="Text 43"/>
          <p:cNvSpPr/>
          <p:nvPr/>
        </p:nvSpPr>
        <p:spPr>
          <a:xfrm>
            <a:off x="13986682" y="6786563"/>
            <a:ext cx="31416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1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47750" y="7548563"/>
            <a:ext cx="166782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 is the only one with a Wine Club. That is a loyalty and discovery tool no competitor has, and right now nobody outside of existing members knows it exists.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085975"/>
            <a:ext cx="173926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CASE STUDY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38250" y="2647950"/>
            <a:ext cx="173926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example of what visibility can do.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3600450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Italian restaurant, Lincoln Park, Chicago.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showing up in Google for "Italian restaurant Lincoln Park" or "dinner near me." Walk-in traffic only, no Google Business Profile, no on-page SEO.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250" y="4629150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they did: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the Google Business Profile, rewrote on-page SEO, added neighborhood keywords, and built a review generation strategy.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38250" y="5943600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6210300"/>
            <a:ext cx="558794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+312%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238250" y="7239000"/>
            <a:ext cx="5587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direction requests from Google after SEO improvements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03950" y="5943600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0" name="Text 8"/>
          <p:cNvSpPr/>
          <p:nvPr/>
        </p:nvSpPr>
        <p:spPr>
          <a:xfrm>
            <a:off x="6603950" y="6210300"/>
            <a:ext cx="558794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603950" y="7239000"/>
            <a:ext cx="5587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see measurable results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969651" y="5943600"/>
            <a:ext cx="5079950" cy="19050"/>
          </a:xfrm>
          <a:prstGeom prst="rect">
            <a:avLst/>
          </a:prstGeom>
          <a:solidFill>
            <a:srgbClr val="CF8F55"/>
          </a:solidFill>
          <a:ln/>
        </p:spPr>
      </p:sp>
      <p:sp>
        <p:nvSpPr>
          <p:cNvPr id="13" name="Text 11"/>
          <p:cNvSpPr/>
          <p:nvPr/>
        </p:nvSpPr>
        <p:spPr>
          <a:xfrm>
            <a:off x="11969651" y="6210300"/>
            <a:ext cx="558794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1969651" y="7239000"/>
            <a:ext cx="5587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reach full ranking potential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8250" y="7953375"/>
            <a:ext cx="173926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F6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Flento Local SEO Case Studies, 2026 · flento.io/blog/local-seo-case-study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889671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STRATEGY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413546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searches that bring in revenue.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047750" y="3232696"/>
            <a:ext cx="1295019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identified with SEMRush to capture reservations, catering leads, venue bookings, and Wine Club signups, across Pasadena and the wider Eastside of LA.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4375696"/>
            <a:ext cx="3905250" cy="2840534"/>
          </a:xfrm>
          <a:prstGeom prst="roundRect">
            <a:avLst>
              <a:gd name="adj" fmla="val 167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4632871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Jazz &amp; Nightlife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85875" y="5109121"/>
            <a:ext cx="3531870" cy="188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jazz Pasadena jazz bar Glendale jazz club Los Angeles live music Eastside LA wine and jazz San Gabriel Valley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5143500" y="4375696"/>
            <a:ext cx="3905250" cy="2840534"/>
          </a:xfrm>
          <a:prstGeom prst="roundRect">
            <a:avLst>
              <a:gd name="adj" fmla="val 167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81625" y="4632871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 &amp; Wine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81625" y="5109121"/>
            <a:ext cx="3531870" cy="188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bar Pasadena wine bar Glendale date night restaurant Burbank intimate dining San Gabriel Valley wine club Los Angeles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239250" y="4375696"/>
            <a:ext cx="3905250" cy="2840534"/>
          </a:xfrm>
          <a:prstGeom prst="roundRect">
            <a:avLst>
              <a:gd name="adj" fmla="val 167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77375" y="4632871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77375" y="5109121"/>
            <a:ext cx="3531870" cy="188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 Pasadena CA catering San Gabriel Valley corporate catering Glendale event catering Burbank private catering Los Angeles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3335000" y="4375696"/>
            <a:ext cx="3905250" cy="2840534"/>
          </a:xfrm>
          <a:prstGeom prst="roundRect">
            <a:avLst>
              <a:gd name="adj" fmla="val 167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3125" y="4632871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 Rental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73125" y="5109121"/>
            <a:ext cx="3531870" cy="188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575" dirty="0">
                <a:solidFill>
                  <a:srgbClr val="CB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venue Pasadena private event space Glendale venue rental San Gabriel Valley party venue Burbank small event space Los Angeles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047750" y="7611517"/>
            <a:ext cx="22691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GEOGRAPHIC REACH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82107" y="7540079"/>
            <a:ext cx="1102519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4032" y="7616279"/>
            <a:ext cx="8548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Pasadena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4498925" y="7540079"/>
            <a:ext cx="1050578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0850" y="7616279"/>
            <a:ext cx="8029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Glendale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5663803" y="7540079"/>
            <a:ext cx="1004590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25728" y="7616279"/>
            <a:ext cx="7569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Burbank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6782693" y="7540079"/>
            <a:ext cx="1184077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4618" y="7616279"/>
            <a:ext cx="9364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Cañada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8081070" y="7540079"/>
            <a:ext cx="1082576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2995" y="7616279"/>
            <a:ext cx="8349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Monrovia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9277945" y="7540079"/>
            <a:ext cx="1803648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39870" y="7616279"/>
            <a:ext cx="15559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Gabriel Valley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1195893" y="7540079"/>
            <a:ext cx="1204317" cy="390525"/>
          </a:xfrm>
          <a:prstGeom prst="roundRect">
            <a:avLst>
              <a:gd name="adj" fmla="val 50000"/>
            </a:avLst>
          </a:prstGeom>
          <a:solidFill>
            <a:srgbClr val="CF8F55">
              <a:alpha val="10000"/>
            </a:srgbClr>
          </a:solidFill>
          <a:ln w="9525">
            <a:solidFill>
              <a:srgbClr val="CF8F55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357818" y="7616279"/>
            <a:ext cx="9566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Valleys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047750" y="8140154"/>
            <a:ext cx="178117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Timeline: </a:t>
            </a:r>
            <a:pPr algn="l" indent="0" marL="0"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typically take three to six months as Google indexes the new site and content builds local authority across the Eastside.</a:t>
            </a:r>
            <a:endParaRPr lang="en-US" sz="15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528888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RESTAURANT-SPECIFIC DETAILS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3033713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things that will make or break this.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3776662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freelancers do not bring these up. I am bringing them up now so there are no surprises.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4433888"/>
            <a:ext cx="5270450" cy="1428750"/>
          </a:xfrm>
          <a:prstGeom prst="roundRect">
            <a:avLst>
              <a:gd name="adj" fmla="val 333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5875" y="467201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Strategy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85875" y="5072063"/>
            <a:ext cx="493802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Yelp reviews are a major ranking signal. I will build a simple process for earning them after a visit.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08700" y="4433888"/>
            <a:ext cx="5270450" cy="1428750"/>
          </a:xfrm>
          <a:prstGeom prst="roundRect">
            <a:avLst>
              <a:gd name="adj" fmla="val 333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6825" y="467201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 Direction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46825" y="5072063"/>
            <a:ext cx="493802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exist but do not sell the experience. The engagement includes a shot list so future photos do.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969651" y="4433888"/>
            <a:ext cx="5270450" cy="1428750"/>
          </a:xfrm>
          <a:prstGeom prst="roundRect">
            <a:avLst>
              <a:gd name="adj" fmla="val 333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07776" y="467201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Reservations (Tock)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207776" y="5072063"/>
            <a:ext cx="493802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Bacchus already uses Tock. I will make the button prominent on every page and on mobile.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7750" y="6053138"/>
            <a:ext cx="5270450" cy="1704975"/>
          </a:xfrm>
          <a:prstGeom prst="roundRect">
            <a:avLst>
              <a:gd name="adj" fmla="val 27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5875" y="629126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Overhaul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" y="6691313"/>
            <a:ext cx="493802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menu is photos of paper that may not be current. The new one is real text, mobile-ready, and maintained.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08700" y="6053138"/>
            <a:ext cx="5270450" cy="1704975"/>
          </a:xfrm>
          <a:prstGeom prst="roundRect">
            <a:avLst>
              <a:gd name="adj" fmla="val 27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6825" y="629126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(ADA)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46825" y="6691313"/>
            <a:ext cx="493802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Squarespace has built-in tools. I will enable alt text, ensure color contrast, and add keyboard navigation.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969651" y="6053138"/>
            <a:ext cx="5270450" cy="1704975"/>
          </a:xfrm>
          <a:prstGeom prst="roundRect">
            <a:avLst>
              <a:gd name="adj" fmla="val 27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07776" y="6291263"/>
            <a:ext cx="5273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Contract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207776" y="6691313"/>
            <a:ext cx="493802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one-page contract before work starts. It protects both of us on what is included and what is additional. If you choose not to continue with a retainer, the engagement includes a warm handoff to whoever manages the site going forward, with basic training on how to make updates.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47925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 BUILD ANYTHING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95275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questions about your brand.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3695700"/>
            <a:ext cx="13830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websites are built on clarity. Before design starts, I need to understand who Bacchus is for and what it stands for.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435292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4533900"/>
            <a:ext cx="36909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31144" y="4591050"/>
            <a:ext cx="79484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your ideal customer?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531144" y="4943475"/>
            <a:ext cx="79484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Date-night couples? Corporate clients? Jazz enthusiasts? This shapes every decision.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429750" y="435292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429750" y="4533900"/>
            <a:ext cx="39439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938445" y="4591050"/>
            <a:ext cx="80319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people feel walking in?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938445" y="4943475"/>
            <a:ext cx="75208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Upscale? Neighborhood-warm? Electric? The brand should make them feel it before they arrive.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47750" y="566737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848350"/>
            <a:ext cx="38978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551831" y="5905500"/>
            <a:ext cx="80370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Bacchus different?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51831" y="6257925"/>
            <a:ext cx="752561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music? The wine list? Chef Claud's story? The one thing a visitor should remember.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429750" y="566737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29750" y="5848350"/>
            <a:ext cx="4122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956304" y="5905500"/>
            <a:ext cx="74314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comes from catering and venue?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956304" y="6257925"/>
            <a:ext cx="74314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 or secondary? This determines how much weight it gets in the site.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7750" y="698182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47750" y="7162800"/>
            <a:ext cx="3969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558975" y="7219950"/>
            <a:ext cx="73183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want to grow the Wine Club?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558975" y="7572375"/>
            <a:ext cx="73183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membership, or retain regulars? This sets how prominently it is featured.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29750" y="6981825"/>
            <a:ext cx="7810500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29750" y="7162800"/>
            <a:ext cx="4171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9961215" y="7219950"/>
            <a:ext cx="5692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handles photos and content going forward?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961215" y="7572375"/>
            <a:ext cx="56927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You? A staff member? Or me, ongoing as part of a retainer?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21756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BETTER VISIBILITY COULD MEAN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3145631"/>
            <a:ext cx="178117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could look like.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047750" y="3945731"/>
            <a:ext cx="138303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Bacchus's actual 70-seat capacity. Currently there are zero digital leads for catering or venue rental.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683919"/>
            <a:ext cx="5257800" cy="2981325"/>
          </a:xfrm>
          <a:prstGeom prst="roundRect">
            <a:avLst>
              <a:gd name="adj" fmla="val 159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4979194"/>
            <a:ext cx="51758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Jazz Night Revenue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23975" y="5503069"/>
            <a:ext cx="48465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seats · 4 events per month ~$45 per person (cover + drinks)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3975" y="6322219"/>
            <a:ext cx="51758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~$8,800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B91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23975" y="6893719"/>
            <a:ext cx="51758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70% fill. Full sell-out ≈ $12,600.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515100" y="4683919"/>
            <a:ext cx="5257800" cy="2981325"/>
          </a:xfrm>
          <a:prstGeom prst="roundRect">
            <a:avLst>
              <a:gd name="adj" fmla="val 159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1325" y="4979194"/>
            <a:ext cx="51758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Catering Revenue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791325" y="5503069"/>
            <a:ext cx="48465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zero digital leads Avg booking $2,000 to $5,000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91325" y="6322219"/>
            <a:ext cx="51758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$4k to $10k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B91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791325" y="6893719"/>
            <a:ext cx="484651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even 2 bookings a month. A dedicated page and SEO make that possible.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1982450" y="4683919"/>
            <a:ext cx="5257800" cy="2981325"/>
          </a:xfrm>
          <a:prstGeom prst="roundRect">
            <a:avLst>
              <a:gd name="adj" fmla="val 1597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8675" y="4979194"/>
            <a:ext cx="51758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 Rental Revenue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258675" y="5503069"/>
            <a:ext cx="484651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promoted online at all $500 to $1,500 per event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8675" y="6322219"/>
            <a:ext cx="51758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to 4</a:t>
            </a:r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9B91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bookings/mo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2258675" y="6893719"/>
            <a:ext cx="517588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venue page and inquiry form opens a new lead channel.</a:t>
            </a:r>
            <a:endParaRPr lang="en-US" sz="14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263378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787253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realistic six-month roadmap.</a:t>
            </a:r>
            <a:endParaRPr lang="en-US" sz="5250" dirty="0"/>
          </a:p>
        </p:txBody>
      </p:sp>
      <p:sp>
        <p:nvSpPr>
          <p:cNvPr id="4" name="Text 2"/>
          <p:cNvSpPr/>
          <p:nvPr/>
        </p:nvSpPr>
        <p:spPr>
          <a:xfrm>
            <a:off x="1047750" y="3606403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build over time, not overnight.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47750" y="4339828"/>
            <a:ext cx="5245001" cy="3683794"/>
          </a:xfrm>
          <a:prstGeom prst="roundRect">
            <a:avLst>
              <a:gd name="adj" fmla="val 12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4654153"/>
            <a:ext cx="1500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4808190" y="4939903"/>
            <a:ext cx="12654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 to 4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343025" y="5397103"/>
            <a:ext cx="511989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43025" y="5959078"/>
            <a:ext cx="4794084" cy="178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Squarespace site built Home, Events, Catering, Venue, Menu Tock button on every page Google Business Profile set up Specific hours, menu as text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6521351" y="4339828"/>
            <a:ext cx="5245150" cy="3683794"/>
          </a:xfrm>
          <a:prstGeom prst="roundRect">
            <a:avLst>
              <a:gd name="adj" fmla="val 12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6626" y="4654153"/>
            <a:ext cx="1500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0281940" y="4939903"/>
            <a:ext cx="12654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5 to 6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816626" y="5397103"/>
            <a:ext cx="51200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16626" y="5959078"/>
            <a:ext cx="4794238" cy="178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SEMRush keyword research On-page SEO for all pages Meta titles, descriptions, sitemap Events calendar live with real dates Catering and venue forms active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1995100" y="4339828"/>
            <a:ext cx="5245150" cy="3683794"/>
          </a:xfrm>
          <a:prstGeom prst="roundRect">
            <a:avLst>
              <a:gd name="adj" fmla="val 1293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90375" y="4654153"/>
            <a:ext cx="1500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5656570" y="4939903"/>
            <a:ext cx="14172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2 to 6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2290375" y="5397103"/>
            <a:ext cx="51200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290375" y="5959078"/>
            <a:ext cx="4794238" cy="178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content and event updates Google indexing and ranking builds Catering and venue leads come in Wine Club signups increase SEO performance review monthly</a:t>
            </a:r>
            <a:endParaRPr lang="en-US" sz="15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857375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INVESTMENT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234315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pricing. No surprises.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3048000"/>
            <a:ext cx="178117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Squarespace subscription ($23 to $33 per month) is paid directly by the client, not through me.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047750" y="3438525"/>
            <a:ext cx="17811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context: comparable Squarespace builds run $2,500 to $5,000, and local SEO retainers $500 to $2,000+ per month. This is priced to win the first project.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47750" y="3962400"/>
            <a:ext cx="5055543" cy="4467225"/>
          </a:xfrm>
          <a:prstGeom prst="roundRect">
            <a:avLst>
              <a:gd name="adj" fmla="val 1279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4295775"/>
            <a:ext cx="49114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43025" y="4724400"/>
            <a:ext cx="4911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$1,200 to $1,800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43025" y="5257800"/>
            <a:ext cx="49114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· foundation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3025" y="5695950"/>
            <a:ext cx="459894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Squarespace rebuild Google Business Profile Basic SEO setup Homepage, menu, contact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12843" y="3962400"/>
            <a:ext cx="5662166" cy="4467225"/>
          </a:xfrm>
          <a:prstGeom prst="roundRect">
            <a:avLst>
              <a:gd name="adj" fmla="val 1279"/>
            </a:avLst>
          </a:prstGeom>
          <a:gradFill rotWithShape="1">
            <a:gsLst>
              <a:gs pos="0">
                <a:srgbClr val="241A14">
                  <a:alpha val="100000"/>
                </a:srgbClr>
              </a:gs>
              <a:gs pos="100000">
                <a:srgbClr val="1A130E">
                  <a:alpha val="100000"/>
                </a:srgbClr>
              </a:gs>
            </a:gsLst>
            <a:lin ang="4200000" scaled="0"/>
          </a:gradFill>
          <a:ln w="9525">
            <a:solidFill>
              <a:srgbClr val="CF8F55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08118" y="3829050"/>
            <a:ext cx="1390501" cy="266700"/>
          </a:xfrm>
          <a:prstGeom prst="roundRect">
            <a:avLst>
              <a:gd name="adj" fmla="val 50000"/>
            </a:avLst>
          </a:prstGeom>
          <a:solidFill>
            <a:srgbClr val="CF8F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60518" y="3886200"/>
            <a:ext cx="11619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1510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08118" y="4295775"/>
            <a:ext cx="557877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Launch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08118" y="4724400"/>
            <a:ext cx="557877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$2,500 to $4,000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08118" y="5257800"/>
            <a:ext cx="55787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B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· full site, SEO, overhaul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8118" y="5695950"/>
            <a:ext cx="5223764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DC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 Catering and Venue pages Menu overhaul (text, mobile) Full SEMRush SEO Events calendar + Tock integration ADA accessibility setup 1 month of support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184559" y="3962400"/>
            <a:ext cx="5055691" cy="4467225"/>
          </a:xfrm>
          <a:prstGeom prst="roundRect">
            <a:avLst>
              <a:gd name="adj" fmla="val 1279"/>
            </a:avLst>
          </a:prstGeom>
          <a:solidFill>
            <a:srgbClr val="1D1711"/>
          </a:solidFill>
          <a:ln w="9525">
            <a:solidFill>
              <a:srgbClr val="ECE7DF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79834" y="4295775"/>
            <a:ext cx="491165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79834" y="4724400"/>
            <a:ext cx="49116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 to $1,000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479834" y="5257800"/>
            <a:ext cx="4911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B91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 · add to either package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79834" y="5695950"/>
            <a:ext cx="459909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9B9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content updates Event page management SEO reporting Strategy check-ins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343025"/>
            <a:ext cx="17811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 THE BUILD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847850"/>
            <a:ext cx="178117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Add-ons that keep the site earning.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590800"/>
            <a:ext cx="129501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CB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Squarespace does far more than host a homepage. Each of these is either a new revenue stream for Bacchus or a recurring line for me. Suggested ranges, layered on as the site grows.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657600"/>
            <a:ext cx="8643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BUILDS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47750" y="491490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229100"/>
            <a:ext cx="338505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Store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047750" y="4543425"/>
            <a:ext cx="33850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cards, to-go bottles, branded merch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63321" y="4229100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+$400 to $800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750" y="5762625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076825"/>
            <a:ext cx="372753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Club Member Area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047750" y="5391150"/>
            <a:ext cx="37275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member pages, exclusive content, Wine Club perks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63321" y="5076825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+$500 to $900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661035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5924550"/>
            <a:ext cx="341190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(Acuity)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047750" y="6238875"/>
            <a:ext cx="3411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dining, tastings, catering consults (Acuity subscription ~$16 to $49/mo separate)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63321" y="5924550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+$250 to $500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047750" y="7458075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772275"/>
            <a:ext cx="287509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Ticketing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047750" y="7086600"/>
            <a:ext cx="28750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jazz-night tickets, sold on-site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63321" y="6772275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+$250 to $450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830580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7620000"/>
            <a:ext cx="353206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Domain Setup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047750" y="7934325"/>
            <a:ext cx="353206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email on the bacchus domain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63321" y="7620000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+$150 to $300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82125" y="3657600"/>
            <a:ext cx="864393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0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 · MONTHLY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82125" y="491490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382125" y="4229100"/>
            <a:ext cx="285233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9382125" y="4543425"/>
            <a:ext cx="28523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newsletter + event blasts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097696" y="4229100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+$150 to $300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382125" y="5762625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382125" y="5076825"/>
            <a:ext cx="355138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&amp; Content SEO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9382125" y="5391150"/>
            <a:ext cx="355138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stories, event recaps, seasonal posts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6097696" y="5076825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+$200 to $400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382125" y="661035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82125" y="5924550"/>
            <a:ext cx="3265051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9382125" y="6238875"/>
            <a:ext cx="32650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traffic and booking dashboard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6215122" y="5924550"/>
            <a:ext cx="1101328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+$75 to $150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82125" y="7458075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82125" y="6772275"/>
            <a:ext cx="353271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Refreshes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9382125" y="7086600"/>
            <a:ext cx="35327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photos, and event calendar upkeep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6097696" y="6772275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+$100 to $250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382125" y="8305800"/>
            <a:ext cx="7858125" cy="9525"/>
          </a:xfrm>
          <a:prstGeom prst="rect">
            <a:avLst/>
          </a:prstGeom>
          <a:solidFill>
            <a:srgbClr val="ECE7DF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382125" y="7620000"/>
            <a:ext cx="283809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Content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9382125" y="7934325"/>
            <a:ext cx="28380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D7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feed + scheduled posts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097696" y="7620000"/>
            <a:ext cx="1218754" cy="571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+$200 to $400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47750" y="8658225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F8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build. Layer these in as Bacchus grows, each one pays for itself.</a:t>
            </a:r>
            <a:endParaRPr lang="en-US" sz="17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A141C">
                  <a:alpha val="100000"/>
                </a:srgbClr>
              </a:gs>
              <a:gs pos="55000">
                <a:srgbClr val="1A0C0D">
                  <a:alpha val="100000"/>
                </a:srgbClr>
              </a:gs>
              <a:gs pos="100000">
                <a:srgbClr val="0F0A07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287500" y="64770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CF8F55">
                  <a:alpha val="18000"/>
                </a:srgbClr>
              </a:gs>
              <a:gs pos="68000">
                <a:srgbClr val="CF8F5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238250" y="990600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MAKE IT HAPPEN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638300"/>
            <a:ext cx="13735050" cy="1979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800" dirty="0">
                <a:solidFill>
                  <a:srgbClr val="F4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Bacchus deserves to be found by the people looking for it.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238250" y="5553224"/>
            <a:ext cx="3781425" cy="19050"/>
          </a:xfrm>
          <a:prstGeom prst="rect">
            <a:avLst/>
          </a:prstGeom>
          <a:solidFill>
            <a:srgbClr val="CF8F55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5762774"/>
            <a:ext cx="415956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50" y="6296174"/>
            <a:ext cx="415956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agree on scope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48275" y="5553224"/>
            <a:ext cx="3781425" cy="19050"/>
          </a:xfrm>
          <a:prstGeom prst="rect">
            <a:avLst/>
          </a:prstGeom>
          <a:solidFill>
            <a:srgbClr val="CF8F55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48275" y="5762774"/>
            <a:ext cx="415956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248275" y="6296174"/>
            <a:ext cx="415956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send contract and invoice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258300" y="5553224"/>
            <a:ext cx="3781425" cy="19050"/>
          </a:xfrm>
          <a:prstGeom prst="rect">
            <a:avLst/>
          </a:prstGeom>
          <a:solidFill>
            <a:srgbClr val="CF8F55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58300" y="5762774"/>
            <a:ext cx="415956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58300" y="6296174"/>
            <a:ext cx="415956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site live within 45 days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268325" y="5553224"/>
            <a:ext cx="3781425" cy="19050"/>
          </a:xfrm>
          <a:prstGeom prst="rect">
            <a:avLst/>
          </a:prstGeom>
          <a:solidFill>
            <a:srgbClr val="CF8F55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268325" y="5762774"/>
            <a:ext cx="415956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F8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268325" y="6296174"/>
            <a:ext cx="415956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4D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site and SEO within 60 days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38250" y="8562975"/>
            <a:ext cx="15811500" cy="9525"/>
          </a:xfrm>
          <a:prstGeom prst="rect">
            <a:avLst/>
          </a:prstGeom>
          <a:solidFill>
            <a:srgbClr val="E4D3CF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8858250"/>
            <a:ext cx="157735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7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Eric Davis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739566" y="9020175"/>
            <a:ext cx="73101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u="sng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 xml:space="preserve">[email protected] </a:t>
            </a:r>
            <a:pPr algn="r" indent="0" marL="0">
              <a:buNone/>
            </a:pPr>
            <a:r>
              <a:rPr lang="en-US" sz="1500" dirty="0">
                <a:solidFill>
                  <a:srgbClr val="CF8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linkedin.com/in/eric-davis-4b1034b8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mium galle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nd Your Wine add-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2026-06-20T00:33:28Z</dcterms:created>
  <dcterms:modified xsi:type="dcterms:W3CDTF">2026-06-20T00:33:28Z</dcterms:modified>
</cp:coreProperties>
</file>